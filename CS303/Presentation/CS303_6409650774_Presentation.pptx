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HK Grotesk Bold" panose="020B0604020202020204" charset="0"/>
      <p:regular r:id="rId24"/>
    </p:embeddedFont>
    <p:embeddedFont>
      <p:font typeface="Montserrat" panose="00000500000000000000" pitchFamily="2" charset="0"/>
      <p:regular r:id="rId25"/>
    </p:embeddedFont>
    <p:embeddedFont>
      <p:font typeface="Montserrat Bold" panose="00000800000000000000" charset="0"/>
      <p:regular r:id="rId26"/>
    </p:embeddedFont>
    <p:embeddedFont>
      <p:font typeface="Poppins" panose="00000500000000000000" pitchFamily="2" charset="0"/>
      <p:regular r:id="rId27"/>
    </p:embeddedFont>
    <p:embeddedFont>
      <p:font typeface="Poppins Bold" panose="00000800000000000000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111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7502" y="5590237"/>
            <a:ext cx="14099416" cy="140994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1346857" y="1974711"/>
            <a:ext cx="14263295" cy="318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19"/>
              </a:lnSpc>
              <a:spcBef>
                <a:spcPct val="0"/>
              </a:spcBef>
            </a:pPr>
            <a:r>
              <a:rPr lang="en-US" sz="9156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WEEKLY LESSON                  SUMMARY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420234" y="-1717598"/>
            <a:ext cx="3735531" cy="37355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7857" y="-643475"/>
            <a:ext cx="1286950" cy="12869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29195" y="8389571"/>
            <a:ext cx="3735531" cy="373553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8757394" y="7522582"/>
            <a:ext cx="8779632" cy="1733977"/>
          </a:xfrm>
          <a:custGeom>
            <a:avLst/>
            <a:gdLst/>
            <a:ahLst/>
            <a:cxnLst/>
            <a:rect l="l" t="t" r="r" b="b"/>
            <a:pathLst>
              <a:path w="8779632" h="1733977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8757394" y="3476019"/>
            <a:ext cx="9146584" cy="5246370"/>
            <a:chOff x="0" y="0"/>
            <a:chExt cx="7981950" cy="4578350"/>
          </a:xfrm>
        </p:grpSpPr>
        <p:sp>
          <p:nvSpPr>
            <p:cNvPr id="17" name="Freeform 17"/>
            <p:cNvSpPr/>
            <p:nvPr/>
          </p:nvSpPr>
          <p:spPr>
            <a:xfrm>
              <a:off x="765810" y="21590"/>
              <a:ext cx="6451600" cy="4326890"/>
            </a:xfrm>
            <a:custGeom>
              <a:avLst/>
              <a:gdLst/>
              <a:ahLst/>
              <a:cxnLst/>
              <a:rect l="l" t="t" r="r" b="b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7981950" cy="4542790"/>
            </a:xfrm>
            <a:custGeom>
              <a:avLst/>
              <a:gdLst/>
              <a:ahLst/>
              <a:cxnLst/>
              <a:rect l="l" t="t" r="r" b="b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3460750" y="4349750"/>
              <a:ext cx="1059180" cy="96520"/>
            </a:xfrm>
            <a:custGeom>
              <a:avLst/>
              <a:gdLst/>
              <a:ahLst/>
              <a:cxnLst/>
              <a:rect l="l" t="t" r="r" b="b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63830" y="4542790"/>
              <a:ext cx="7654290" cy="35560"/>
            </a:xfrm>
            <a:custGeom>
              <a:avLst/>
              <a:gdLst/>
              <a:ahLst/>
              <a:cxnLst/>
              <a:rect l="l" t="t" r="r" b="b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962660" y="276860"/>
              <a:ext cx="6055360" cy="3789680"/>
            </a:xfrm>
            <a:custGeom>
              <a:avLst/>
              <a:gdLst/>
              <a:ahLst/>
              <a:cxnLst/>
              <a:rect l="l" t="t" r="r" b="b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t="-6723" b="-6723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1916872" y="8665239"/>
            <a:ext cx="6549145" cy="49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5"/>
              </a:lnSpc>
              <a:spcBef>
                <a:spcPct val="0"/>
              </a:spcBef>
            </a:pPr>
            <a:r>
              <a:rPr lang="en-US" sz="287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Chanakarn Prommuengkao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34806" y="9673425"/>
            <a:ext cx="5537752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45607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THAMMASAT UNIVER</a:t>
            </a:r>
            <a:r>
              <a:rPr lang="en-US" sz="36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76763" y="9716287"/>
            <a:ext cx="921388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FACULTY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17814" y="-315404"/>
            <a:ext cx="3964281" cy="10917809"/>
            <a:chOff x="0" y="0"/>
            <a:chExt cx="1044090" cy="2875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090" cy="2875472"/>
            </a:xfrm>
            <a:custGeom>
              <a:avLst/>
              <a:gdLst/>
              <a:ahLst/>
              <a:cxnLst/>
              <a:rect l="l" t="t" r="r" b="b"/>
              <a:pathLst>
                <a:path w="1044090" h="2875472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867766" y="-1614217"/>
            <a:ext cx="3735531" cy="373553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934509" y="581435"/>
            <a:ext cx="4880796" cy="3898399"/>
          </a:xfrm>
          <a:custGeom>
            <a:avLst/>
            <a:gdLst/>
            <a:ahLst/>
            <a:cxnLst/>
            <a:rect l="l" t="t" r="r" b="b"/>
            <a:pathLst>
              <a:path w="4880796" h="3898399">
                <a:moveTo>
                  <a:pt x="0" y="0"/>
                </a:moveTo>
                <a:lnTo>
                  <a:pt x="4880795" y="0"/>
                </a:lnTo>
                <a:lnTo>
                  <a:pt x="4880795" y="3898399"/>
                </a:lnTo>
                <a:lnTo>
                  <a:pt x="0" y="3898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901862" y="5143500"/>
            <a:ext cx="7218395" cy="4402428"/>
          </a:xfrm>
          <a:custGeom>
            <a:avLst/>
            <a:gdLst/>
            <a:ahLst/>
            <a:cxnLst/>
            <a:rect l="l" t="t" r="r" b="b"/>
            <a:pathLst>
              <a:path w="7218395" h="4402428">
                <a:moveTo>
                  <a:pt x="0" y="0"/>
                </a:moveTo>
                <a:lnTo>
                  <a:pt x="7218395" y="0"/>
                </a:lnTo>
                <a:lnTo>
                  <a:pt x="7218395" y="4402428"/>
                </a:lnTo>
                <a:lnTo>
                  <a:pt x="0" y="4402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58982" y="670128"/>
            <a:ext cx="7849470" cy="125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8"/>
              </a:lnSpc>
              <a:spcBef>
                <a:spcPct val="0"/>
              </a:spcBef>
            </a:pPr>
            <a:r>
              <a:rPr lang="en-US" sz="7320" b="1" dirty="0" err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ที่มาและความสำคัญ</a:t>
            </a:r>
            <a:endParaRPr lang="en-US" sz="7320" b="1" dirty="0">
              <a:solidFill>
                <a:srgbClr val="051D4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57830" y="3650104"/>
            <a:ext cx="9284771" cy="349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1"/>
              </a:lnSpc>
              <a:spcBef>
                <a:spcPct val="0"/>
              </a:spcBef>
            </a:pPr>
            <a:r>
              <a:rPr lang="en-US" sz="3943" spc="-7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ในปัจจุบันเทคโนโลยีได้เข้ามามีบทบาทมากมายหลายทาง</a:t>
            </a:r>
            <a:r>
              <a:rPr lang="en-US" sz="3943" spc="-7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943" spc="-7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รวมไปถึงการศึกษา</a:t>
            </a:r>
            <a:r>
              <a:rPr lang="en-US" sz="3943" spc="-7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โดยเฉพาะในรั้วมหาวิทยาลัยผู้เรียนจำเป็นต้องศึกษาเนื้อหาที่มีจำนวนมาก </a:t>
            </a:r>
            <a:r>
              <a:rPr lang="en-US" sz="3943" spc="-7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ซึ่งเป็นเนื้อหาที่มีความซับซ้อน</a:t>
            </a:r>
            <a:r>
              <a:rPr lang="en-US" sz="3943" spc="-78" dirty="0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943" spc="-78" dirty="0" err="1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ต้องอาศัยความเข้าใจในเนื้อหา</a:t>
            </a:r>
            <a:endParaRPr lang="en-US" sz="3943" spc="-78" dirty="0">
              <a:solidFill>
                <a:srgbClr val="051D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656283" y="-2445901"/>
            <a:ext cx="15178802" cy="151788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6007842" y="-1797460"/>
            <a:ext cx="13881919" cy="1388191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4132920"/>
            <a:ext cx="4770927" cy="1185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11"/>
              </a:lnSpc>
              <a:spcBef>
                <a:spcPct val="0"/>
              </a:spcBef>
            </a:pPr>
            <a:r>
              <a:rPr lang="en-US" sz="6936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วัตถุประสงค์</a:t>
            </a:r>
          </a:p>
        </p:txBody>
      </p:sp>
      <p:sp>
        <p:nvSpPr>
          <p:cNvPr id="9" name="Freeform 9"/>
          <p:cNvSpPr/>
          <p:nvPr/>
        </p:nvSpPr>
        <p:spPr>
          <a:xfrm>
            <a:off x="7720765" y="316572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7865823" y="589784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id="11" name="Freeform 11"/>
          <p:cNvSpPr/>
          <p:nvPr/>
        </p:nvSpPr>
        <p:spPr>
          <a:xfrm>
            <a:off x="8522518" y="2374814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8667576" y="2648026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id="13" name="Freeform 13"/>
          <p:cNvSpPr/>
          <p:nvPr/>
        </p:nvSpPr>
        <p:spPr>
          <a:xfrm>
            <a:off x="8886822" y="4605944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TextBox 14"/>
          <p:cNvSpPr txBox="1"/>
          <p:nvPr/>
        </p:nvSpPr>
        <p:spPr>
          <a:xfrm>
            <a:off x="9031880" y="4879156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id="15" name="Freeform 15"/>
          <p:cNvSpPr/>
          <p:nvPr/>
        </p:nvSpPr>
        <p:spPr>
          <a:xfrm>
            <a:off x="8618101" y="6545233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9411720" y="497953"/>
            <a:ext cx="5768345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-79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สามารถสรุปเนื้อหาจากเอกสาร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63159" y="6818445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059285" y="3086942"/>
            <a:ext cx="373607" cy="37360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335715" y="5131269"/>
            <a:ext cx="373607" cy="37360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13666" y="8884693"/>
            <a:ext cx="373607" cy="373607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59285" y="7070558"/>
            <a:ext cx="373607" cy="37360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22898" y="1028700"/>
            <a:ext cx="373607" cy="373607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7810391" y="8483839"/>
            <a:ext cx="1424256" cy="1424256"/>
          </a:xfrm>
          <a:custGeom>
            <a:avLst/>
            <a:gdLst/>
            <a:ahLst/>
            <a:cxnLst/>
            <a:rect l="l" t="t" r="r" b="b"/>
            <a:pathLst>
              <a:path w="1424256" h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4" name="TextBox 34"/>
          <p:cNvSpPr txBox="1"/>
          <p:nvPr/>
        </p:nvSpPr>
        <p:spPr>
          <a:xfrm>
            <a:off x="7955449" y="8757051"/>
            <a:ext cx="1134140" cy="80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166020" y="2556195"/>
            <a:ext cx="6237316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-79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บันทึกสรุปไว้ใช้ภายหลัง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673028" y="4841056"/>
            <a:ext cx="6237316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-79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สร้างแบบทดสอบ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24072" y="6901632"/>
            <a:ext cx="6586272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-79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แสดงภาพรวมการเรียนรู้ที่ผ่านมา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01346" y="8664814"/>
            <a:ext cx="7902418" cy="1351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spc="-75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ผู้ใช้สามารถติดตามความก้าวหน้าการเรียนรู้ของตัวเองได้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7242" y="146452"/>
            <a:ext cx="17793515" cy="9802411"/>
            <a:chOff x="0" y="0"/>
            <a:chExt cx="4982580" cy="2744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430387" y="8211194"/>
            <a:ext cx="415437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405608" y="2466355"/>
            <a:ext cx="4203375" cy="5973865"/>
            <a:chOff x="0" y="0"/>
            <a:chExt cx="1416547" cy="20132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6547" cy="2013207"/>
            </a:xfrm>
            <a:custGeom>
              <a:avLst/>
              <a:gdLst/>
              <a:ahLst/>
              <a:cxnLst/>
              <a:rect l="l" t="t" r="r" b="b"/>
              <a:pathLst>
                <a:path w="1416547" h="2013207">
                  <a:moveTo>
                    <a:pt x="46046" y="0"/>
                  </a:moveTo>
                  <a:lnTo>
                    <a:pt x="1370502" y="0"/>
                  </a:lnTo>
                  <a:cubicBezTo>
                    <a:pt x="1382714" y="0"/>
                    <a:pt x="1394426" y="4851"/>
                    <a:pt x="1403061" y="13487"/>
                  </a:cubicBezTo>
                  <a:cubicBezTo>
                    <a:pt x="1411696" y="22122"/>
                    <a:pt x="1416547" y="33834"/>
                    <a:pt x="1416547" y="46046"/>
                  </a:cubicBezTo>
                  <a:lnTo>
                    <a:pt x="1416547" y="1967161"/>
                  </a:lnTo>
                  <a:cubicBezTo>
                    <a:pt x="1416547" y="1979373"/>
                    <a:pt x="1411696" y="1991085"/>
                    <a:pt x="1403061" y="1999720"/>
                  </a:cubicBezTo>
                  <a:cubicBezTo>
                    <a:pt x="1394426" y="2008356"/>
                    <a:pt x="1382714" y="2013207"/>
                    <a:pt x="1370502" y="2013207"/>
                  </a:cubicBezTo>
                  <a:lnTo>
                    <a:pt x="46046" y="2013207"/>
                  </a:lnTo>
                  <a:cubicBezTo>
                    <a:pt x="33834" y="2013207"/>
                    <a:pt x="22122" y="2008356"/>
                    <a:pt x="13487" y="1999720"/>
                  </a:cubicBezTo>
                  <a:cubicBezTo>
                    <a:pt x="4851" y="1991085"/>
                    <a:pt x="0" y="1979373"/>
                    <a:pt x="0" y="1967161"/>
                  </a:cubicBezTo>
                  <a:lnTo>
                    <a:pt x="0" y="46046"/>
                  </a:lnTo>
                  <a:cubicBezTo>
                    <a:pt x="0" y="33834"/>
                    <a:pt x="4851" y="22122"/>
                    <a:pt x="13487" y="13487"/>
                  </a:cubicBezTo>
                  <a:cubicBezTo>
                    <a:pt x="22122" y="4851"/>
                    <a:pt x="33834" y="0"/>
                    <a:pt x="46046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16547" cy="205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4386002" y="5028607"/>
            <a:ext cx="4154377" cy="0"/>
          </a:xfrm>
          <a:prstGeom prst="line">
            <a:avLst/>
          </a:prstGeom>
          <a:ln w="38100" cap="flat">
            <a:solidFill>
              <a:srgbClr val="145D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10388642" y="9163347"/>
            <a:ext cx="415437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6" y="0"/>
                </a:lnTo>
                <a:lnTo>
                  <a:pt x="4154376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0339644" y="2466355"/>
            <a:ext cx="4203375" cy="6696992"/>
            <a:chOff x="0" y="0"/>
            <a:chExt cx="1416547" cy="22569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16547" cy="2256902"/>
            </a:xfrm>
            <a:custGeom>
              <a:avLst/>
              <a:gdLst/>
              <a:ahLst/>
              <a:cxnLst/>
              <a:rect l="l" t="t" r="r" b="b"/>
              <a:pathLst>
                <a:path w="1416547" h="2256902">
                  <a:moveTo>
                    <a:pt x="46046" y="0"/>
                  </a:moveTo>
                  <a:lnTo>
                    <a:pt x="1370502" y="0"/>
                  </a:lnTo>
                  <a:cubicBezTo>
                    <a:pt x="1382714" y="0"/>
                    <a:pt x="1394426" y="4851"/>
                    <a:pt x="1403061" y="13487"/>
                  </a:cubicBezTo>
                  <a:cubicBezTo>
                    <a:pt x="1411696" y="22122"/>
                    <a:pt x="1416547" y="33834"/>
                    <a:pt x="1416547" y="46046"/>
                  </a:cubicBezTo>
                  <a:lnTo>
                    <a:pt x="1416547" y="2210857"/>
                  </a:lnTo>
                  <a:cubicBezTo>
                    <a:pt x="1416547" y="2223069"/>
                    <a:pt x="1411696" y="2234781"/>
                    <a:pt x="1403061" y="2243416"/>
                  </a:cubicBezTo>
                  <a:cubicBezTo>
                    <a:pt x="1394426" y="2252051"/>
                    <a:pt x="1382714" y="2256902"/>
                    <a:pt x="1370502" y="2256902"/>
                  </a:cubicBezTo>
                  <a:lnTo>
                    <a:pt x="46046" y="2256902"/>
                  </a:lnTo>
                  <a:cubicBezTo>
                    <a:pt x="33834" y="2256902"/>
                    <a:pt x="22122" y="2252051"/>
                    <a:pt x="13487" y="2243416"/>
                  </a:cubicBezTo>
                  <a:cubicBezTo>
                    <a:pt x="4851" y="2234781"/>
                    <a:pt x="0" y="2223069"/>
                    <a:pt x="0" y="2210857"/>
                  </a:cubicBezTo>
                  <a:lnTo>
                    <a:pt x="0" y="46046"/>
                  </a:lnTo>
                  <a:cubicBezTo>
                    <a:pt x="0" y="33834"/>
                    <a:pt x="4851" y="22122"/>
                    <a:pt x="13487" y="13487"/>
                  </a:cubicBezTo>
                  <a:cubicBezTo>
                    <a:pt x="22122" y="4851"/>
                    <a:pt x="33834" y="0"/>
                    <a:pt x="46046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16547" cy="22950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0339644" y="5009557"/>
            <a:ext cx="4154377" cy="0"/>
          </a:xfrm>
          <a:prstGeom prst="line">
            <a:avLst/>
          </a:prstGeom>
          <a:ln w="38100" cap="flat">
            <a:solidFill>
              <a:srgbClr val="145D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5201579" y="942975"/>
            <a:ext cx="7884841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ขอบเขตของระบบ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11798" y="5245457"/>
            <a:ext cx="3579202" cy="35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-ระบบสามารถอัปโหลดไฟล์เอกสารได้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17694" y="4446100"/>
            <a:ext cx="3490991" cy="439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2433" b="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Server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51730" y="4284332"/>
            <a:ext cx="3490991" cy="439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2433" b="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User</a:t>
            </a:r>
          </a:p>
        </p:txBody>
      </p:sp>
      <p:sp>
        <p:nvSpPr>
          <p:cNvPr id="19" name="Freeform 19"/>
          <p:cNvSpPr/>
          <p:nvPr/>
        </p:nvSpPr>
        <p:spPr>
          <a:xfrm>
            <a:off x="5471012" y="2701263"/>
            <a:ext cx="2073127" cy="1601962"/>
          </a:xfrm>
          <a:custGeom>
            <a:avLst/>
            <a:gdLst/>
            <a:ahLst/>
            <a:cxnLst/>
            <a:rect l="l" t="t" r="r" b="b"/>
            <a:pathLst>
              <a:path w="2073127" h="1601962">
                <a:moveTo>
                  <a:pt x="0" y="0"/>
                </a:moveTo>
                <a:lnTo>
                  <a:pt x="2073127" y="0"/>
                </a:lnTo>
                <a:lnTo>
                  <a:pt x="2073127" y="1601962"/>
                </a:lnTo>
                <a:lnTo>
                  <a:pt x="0" y="16019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656142" y="2701263"/>
            <a:ext cx="1393956" cy="1577319"/>
          </a:xfrm>
          <a:custGeom>
            <a:avLst/>
            <a:gdLst/>
            <a:ahLst/>
            <a:cxnLst/>
            <a:rect l="l" t="t" r="r" b="b"/>
            <a:pathLst>
              <a:path w="1393956" h="1577319">
                <a:moveTo>
                  <a:pt x="0" y="0"/>
                </a:moveTo>
                <a:lnTo>
                  <a:pt x="1393956" y="0"/>
                </a:lnTo>
                <a:lnTo>
                  <a:pt x="1393956" y="1577319"/>
                </a:lnTo>
                <a:lnTo>
                  <a:pt x="0" y="15773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21"/>
          <p:cNvSpPr txBox="1"/>
          <p:nvPr/>
        </p:nvSpPr>
        <p:spPr>
          <a:xfrm>
            <a:off x="4611798" y="5806417"/>
            <a:ext cx="3790995" cy="35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-ระบบสามารถสรุปเนื้อหาจากเอกสารได้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2078" y="7000242"/>
            <a:ext cx="3790995" cy="35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-ระบบสามารถสร้างแบบทดสอบได้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1798" y="6403330"/>
            <a:ext cx="3790995" cy="35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-ระบบสามารถแสดงสรุปเนื้อหาได้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1798" y="7615929"/>
            <a:ext cx="3790995" cy="35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-ระบบสามารถแสดงภาพรวมการเรียนรู้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63519" y="5245457"/>
            <a:ext cx="3579202" cy="35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-ผู้ใช้สามารถเข้าสู่ระบบ/ออกระบได้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63519" y="5655736"/>
            <a:ext cx="3579202" cy="35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-ผู้ใช้สามารถอัปโหลดไฟล์เอกสารได้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63519" y="6165788"/>
            <a:ext cx="3579202" cy="35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-ผู้ใช้สามารถสร้างแบบทดสอบได้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63519" y="6675840"/>
            <a:ext cx="3579202" cy="35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-ผู้ใช้สามารถทำแบบทดสอบได้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63519" y="7150923"/>
            <a:ext cx="3579202" cy="35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-ผู้ใช้สามารถดูคะแนนได้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563519" y="7656472"/>
            <a:ext cx="3579202" cy="71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-ผู้ใช้สามารถบันทึกสรุปเนื้อหาได้เพื่อใช้ภายหลังได้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563519" y="8381334"/>
            <a:ext cx="3579202" cy="71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-ผู้ใช้สามารถดูหน้าแดชบอร์ดเพื่อดูภาพรวมการเรียนรู้ของตัวเองได้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7242" y="108352"/>
            <a:ext cx="17793515" cy="9802411"/>
            <a:chOff x="0" y="0"/>
            <a:chExt cx="4982580" cy="27448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2580" cy="2744893"/>
            </a:xfrm>
            <a:custGeom>
              <a:avLst/>
              <a:gdLst/>
              <a:ahLst/>
              <a:cxnLst/>
              <a:rect l="l" t="t" r="r" b="b"/>
              <a:pathLst>
                <a:path w="4982580" h="2744893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430387" y="8211194"/>
            <a:ext cx="415437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7" y="0"/>
                </a:lnTo>
                <a:lnTo>
                  <a:pt x="4154377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405608" y="2466355"/>
            <a:ext cx="4203375" cy="5973865"/>
            <a:chOff x="0" y="0"/>
            <a:chExt cx="1416547" cy="20132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6547" cy="2013207"/>
            </a:xfrm>
            <a:custGeom>
              <a:avLst/>
              <a:gdLst/>
              <a:ahLst/>
              <a:cxnLst/>
              <a:rect l="l" t="t" r="r" b="b"/>
              <a:pathLst>
                <a:path w="1416547" h="2013207">
                  <a:moveTo>
                    <a:pt x="46046" y="0"/>
                  </a:moveTo>
                  <a:lnTo>
                    <a:pt x="1370502" y="0"/>
                  </a:lnTo>
                  <a:cubicBezTo>
                    <a:pt x="1382714" y="0"/>
                    <a:pt x="1394426" y="4851"/>
                    <a:pt x="1403061" y="13487"/>
                  </a:cubicBezTo>
                  <a:cubicBezTo>
                    <a:pt x="1411696" y="22122"/>
                    <a:pt x="1416547" y="33834"/>
                    <a:pt x="1416547" y="46046"/>
                  </a:cubicBezTo>
                  <a:lnTo>
                    <a:pt x="1416547" y="1967161"/>
                  </a:lnTo>
                  <a:cubicBezTo>
                    <a:pt x="1416547" y="1979373"/>
                    <a:pt x="1411696" y="1991085"/>
                    <a:pt x="1403061" y="1999720"/>
                  </a:cubicBezTo>
                  <a:cubicBezTo>
                    <a:pt x="1394426" y="2008356"/>
                    <a:pt x="1382714" y="2013207"/>
                    <a:pt x="1370502" y="2013207"/>
                  </a:cubicBezTo>
                  <a:lnTo>
                    <a:pt x="46046" y="2013207"/>
                  </a:lnTo>
                  <a:cubicBezTo>
                    <a:pt x="33834" y="2013207"/>
                    <a:pt x="22122" y="2008356"/>
                    <a:pt x="13487" y="1999720"/>
                  </a:cubicBezTo>
                  <a:cubicBezTo>
                    <a:pt x="4851" y="1991085"/>
                    <a:pt x="0" y="1979373"/>
                    <a:pt x="0" y="1967161"/>
                  </a:cubicBezTo>
                  <a:lnTo>
                    <a:pt x="0" y="46046"/>
                  </a:lnTo>
                  <a:cubicBezTo>
                    <a:pt x="0" y="33834"/>
                    <a:pt x="4851" y="22122"/>
                    <a:pt x="13487" y="13487"/>
                  </a:cubicBezTo>
                  <a:cubicBezTo>
                    <a:pt x="22122" y="4851"/>
                    <a:pt x="33834" y="0"/>
                    <a:pt x="46046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16547" cy="2051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4386002" y="5028607"/>
            <a:ext cx="4154377" cy="0"/>
          </a:xfrm>
          <a:prstGeom prst="line">
            <a:avLst/>
          </a:prstGeom>
          <a:ln w="38100" cap="flat">
            <a:solidFill>
              <a:srgbClr val="145D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10388642" y="9296835"/>
            <a:ext cx="4154377" cy="582587"/>
          </a:xfrm>
          <a:custGeom>
            <a:avLst/>
            <a:gdLst/>
            <a:ahLst/>
            <a:cxnLst/>
            <a:rect l="l" t="t" r="r" b="b"/>
            <a:pathLst>
              <a:path w="4154377" h="582587">
                <a:moveTo>
                  <a:pt x="0" y="0"/>
                </a:moveTo>
                <a:lnTo>
                  <a:pt x="4154376" y="0"/>
                </a:lnTo>
                <a:lnTo>
                  <a:pt x="4154376" y="582587"/>
                </a:lnTo>
                <a:lnTo>
                  <a:pt x="0" y="5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0835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0339644" y="2466355"/>
            <a:ext cx="4203375" cy="6988285"/>
            <a:chOff x="0" y="0"/>
            <a:chExt cx="1416547" cy="23550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16547" cy="2355069"/>
            </a:xfrm>
            <a:custGeom>
              <a:avLst/>
              <a:gdLst/>
              <a:ahLst/>
              <a:cxnLst/>
              <a:rect l="l" t="t" r="r" b="b"/>
              <a:pathLst>
                <a:path w="1416547" h="2355069">
                  <a:moveTo>
                    <a:pt x="46046" y="0"/>
                  </a:moveTo>
                  <a:lnTo>
                    <a:pt x="1370502" y="0"/>
                  </a:lnTo>
                  <a:cubicBezTo>
                    <a:pt x="1382714" y="0"/>
                    <a:pt x="1394426" y="4851"/>
                    <a:pt x="1403061" y="13487"/>
                  </a:cubicBezTo>
                  <a:cubicBezTo>
                    <a:pt x="1411696" y="22122"/>
                    <a:pt x="1416547" y="33834"/>
                    <a:pt x="1416547" y="46046"/>
                  </a:cubicBezTo>
                  <a:lnTo>
                    <a:pt x="1416547" y="2309023"/>
                  </a:lnTo>
                  <a:cubicBezTo>
                    <a:pt x="1416547" y="2321235"/>
                    <a:pt x="1411696" y="2332947"/>
                    <a:pt x="1403061" y="2341582"/>
                  </a:cubicBezTo>
                  <a:cubicBezTo>
                    <a:pt x="1394426" y="2350218"/>
                    <a:pt x="1382714" y="2355069"/>
                    <a:pt x="1370502" y="2355069"/>
                  </a:cubicBezTo>
                  <a:lnTo>
                    <a:pt x="46046" y="2355069"/>
                  </a:lnTo>
                  <a:cubicBezTo>
                    <a:pt x="33834" y="2355069"/>
                    <a:pt x="22122" y="2350218"/>
                    <a:pt x="13487" y="2341582"/>
                  </a:cubicBezTo>
                  <a:cubicBezTo>
                    <a:pt x="4851" y="2332947"/>
                    <a:pt x="0" y="2321235"/>
                    <a:pt x="0" y="2309023"/>
                  </a:cubicBezTo>
                  <a:lnTo>
                    <a:pt x="0" y="46046"/>
                  </a:lnTo>
                  <a:cubicBezTo>
                    <a:pt x="0" y="33834"/>
                    <a:pt x="4851" y="22122"/>
                    <a:pt x="13487" y="13487"/>
                  </a:cubicBezTo>
                  <a:cubicBezTo>
                    <a:pt x="22122" y="4851"/>
                    <a:pt x="33834" y="0"/>
                    <a:pt x="46046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16547" cy="2393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0339644" y="5009557"/>
            <a:ext cx="4154377" cy="0"/>
          </a:xfrm>
          <a:prstGeom prst="line">
            <a:avLst/>
          </a:prstGeom>
          <a:ln w="38100" cap="flat">
            <a:solidFill>
              <a:srgbClr val="145DA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3915690" y="1018557"/>
            <a:ext cx="11182770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ประโยชน์ และ ข้อจำกัดและกรอบการพัฒนาระบบ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11798" y="5245457"/>
            <a:ext cx="3579202" cy="358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-ช่วยลดระยะเวลาในการทบทวน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00008" y="4274650"/>
            <a:ext cx="3490991" cy="439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2433" b="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ประโยชน์ที่คาดว่าจะได้รับ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20334" y="4274650"/>
            <a:ext cx="3490991" cy="439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2433" b="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ข้อจำกัด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798" y="5838895"/>
            <a:ext cx="3790995" cy="71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-ช่วยเพิ่มประสิทธิภาพไม่มากก็น้อยในการทบทวน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7692" y="6724017"/>
            <a:ext cx="3790995" cy="71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-ช่วยให้ผู้ใช้สามารถประเมินความเข้าใจของตัวเองจากการเรียนรู้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11798" y="7615929"/>
            <a:ext cx="3790995" cy="71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-ช่วยให้ผู้ใช้สามารถติดตามความก้าวหน้าของตัวเองได้</a:t>
            </a:r>
          </a:p>
        </p:txBody>
      </p:sp>
      <p:sp>
        <p:nvSpPr>
          <p:cNvPr id="22" name="Freeform 22"/>
          <p:cNvSpPr/>
          <p:nvPr/>
        </p:nvSpPr>
        <p:spPr>
          <a:xfrm>
            <a:off x="11891338" y="2730052"/>
            <a:ext cx="1400107" cy="1420773"/>
          </a:xfrm>
          <a:custGeom>
            <a:avLst/>
            <a:gdLst/>
            <a:ahLst/>
            <a:cxnLst/>
            <a:rect l="l" t="t" r="r" b="b"/>
            <a:pathLst>
              <a:path w="1400107" h="1420773">
                <a:moveTo>
                  <a:pt x="0" y="0"/>
                </a:moveTo>
                <a:lnTo>
                  <a:pt x="1400107" y="0"/>
                </a:lnTo>
                <a:lnTo>
                  <a:pt x="1400107" y="1420773"/>
                </a:lnTo>
                <a:lnTo>
                  <a:pt x="0" y="14207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694867" y="2831537"/>
            <a:ext cx="1413062" cy="1217803"/>
          </a:xfrm>
          <a:custGeom>
            <a:avLst/>
            <a:gdLst/>
            <a:ahLst/>
            <a:cxnLst/>
            <a:rect l="l" t="t" r="r" b="b"/>
            <a:pathLst>
              <a:path w="1413062" h="1217803">
                <a:moveTo>
                  <a:pt x="0" y="0"/>
                </a:moveTo>
                <a:lnTo>
                  <a:pt x="1413063" y="0"/>
                </a:lnTo>
                <a:lnTo>
                  <a:pt x="1413063" y="1217802"/>
                </a:lnTo>
                <a:lnTo>
                  <a:pt x="0" y="12178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632124" y="5086350"/>
            <a:ext cx="3579202" cy="71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-ระบบรองรับไฟล์เอกสารบางประเภทเท่านั้น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32124" y="5769936"/>
            <a:ext cx="3579202" cy="106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-คุณภาพของข้อมูลที่สรุปจะขึ้นอยู่กับคุณภาพและความชัดเจนของเอกสารที่ผู้ใช้อัปโหลด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32124" y="6890448"/>
            <a:ext cx="3579202" cy="1415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-ระบบถูกออกแบบมาเพื่อรองรับการใช้งานทั่วไป โดยการ สมัครสมาชิก และ เข้าสู่ระบบด้วยอีเมล และ รหัสผ่าน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632124" y="8233525"/>
            <a:ext cx="3579202" cy="1063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010" spc="-40">
                <a:solidFill>
                  <a:srgbClr val="145DA0"/>
                </a:solidFill>
                <a:latin typeface="Poppins"/>
                <a:ea typeface="Poppins"/>
                <a:cs typeface="Poppins"/>
                <a:sym typeface="Poppins"/>
              </a:rPr>
              <a:t>-ระบบพึ่งพาข้อมูลที่ผู้ใช้ป้อน หากไม่มีการอัปโหลดก็จะไม่สามารถแสดงสรุปได้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D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10909" y="5269572"/>
            <a:ext cx="4840146" cy="955929"/>
          </a:xfrm>
          <a:custGeom>
            <a:avLst/>
            <a:gdLst/>
            <a:ahLst/>
            <a:cxnLst/>
            <a:rect l="l" t="t" r="r" b="b"/>
            <a:pathLst>
              <a:path w="4840146" h="955929">
                <a:moveTo>
                  <a:pt x="0" y="0"/>
                </a:moveTo>
                <a:lnTo>
                  <a:pt x="4840146" y="0"/>
                </a:lnTo>
                <a:lnTo>
                  <a:pt x="4840146" y="955929"/>
                </a:lnTo>
                <a:lnTo>
                  <a:pt x="0" y="95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96952" y="2112183"/>
            <a:ext cx="4840146" cy="3635354"/>
            <a:chOff x="0" y="0"/>
            <a:chExt cx="1554321" cy="11674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54321" cy="1167425"/>
            </a:xfrm>
            <a:custGeom>
              <a:avLst/>
              <a:gdLst/>
              <a:ahLst/>
              <a:cxnLst/>
              <a:rect l="l" t="t" r="r" b="b"/>
              <a:pathLst>
                <a:path w="1554321" h="1167425">
                  <a:moveTo>
                    <a:pt x="70379" y="0"/>
                  </a:moveTo>
                  <a:lnTo>
                    <a:pt x="1483942" y="0"/>
                  </a:lnTo>
                  <a:cubicBezTo>
                    <a:pt x="1522811" y="0"/>
                    <a:pt x="1554321" y="31510"/>
                    <a:pt x="1554321" y="70379"/>
                  </a:cubicBezTo>
                  <a:lnTo>
                    <a:pt x="1554321" y="1097046"/>
                  </a:lnTo>
                  <a:cubicBezTo>
                    <a:pt x="1554321" y="1135915"/>
                    <a:pt x="1522811" y="1167425"/>
                    <a:pt x="1483942" y="1167425"/>
                  </a:cubicBezTo>
                  <a:lnTo>
                    <a:pt x="70379" y="1167425"/>
                  </a:lnTo>
                  <a:cubicBezTo>
                    <a:pt x="31510" y="1167425"/>
                    <a:pt x="0" y="1135915"/>
                    <a:pt x="0" y="1097046"/>
                  </a:cubicBezTo>
                  <a:lnTo>
                    <a:pt x="0" y="70379"/>
                  </a:lnTo>
                  <a:cubicBezTo>
                    <a:pt x="0" y="31510"/>
                    <a:pt x="31510" y="0"/>
                    <a:pt x="70379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54321" cy="120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123887" y="-2346523"/>
            <a:ext cx="4693046" cy="469304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573718" y="7940477"/>
            <a:ext cx="4693046" cy="469304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123221" y="2235888"/>
            <a:ext cx="4615522" cy="2596198"/>
            <a:chOff x="0" y="0"/>
            <a:chExt cx="1128903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287760" cy="6348735"/>
            </a:xfrm>
            <a:custGeom>
              <a:avLst/>
              <a:gdLst/>
              <a:ahLst/>
              <a:cxnLst/>
              <a:rect l="l" t="t" r="r" b="b"/>
              <a:pathLst>
                <a:path w="11287760" h="6348735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t="-38897" b="-38897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9792244" y="5269572"/>
            <a:ext cx="4840146" cy="955929"/>
          </a:xfrm>
          <a:custGeom>
            <a:avLst/>
            <a:gdLst/>
            <a:ahLst/>
            <a:cxnLst/>
            <a:rect l="l" t="t" r="r" b="b"/>
            <a:pathLst>
              <a:path w="4840146" h="955929">
                <a:moveTo>
                  <a:pt x="0" y="0"/>
                </a:moveTo>
                <a:lnTo>
                  <a:pt x="4840145" y="0"/>
                </a:lnTo>
                <a:lnTo>
                  <a:pt x="4840145" y="955929"/>
                </a:lnTo>
                <a:lnTo>
                  <a:pt x="0" y="955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9778287" y="2112183"/>
            <a:ext cx="4840146" cy="3635354"/>
            <a:chOff x="0" y="0"/>
            <a:chExt cx="1554321" cy="11674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4321" cy="1167425"/>
            </a:xfrm>
            <a:custGeom>
              <a:avLst/>
              <a:gdLst/>
              <a:ahLst/>
              <a:cxnLst/>
              <a:rect l="l" t="t" r="r" b="b"/>
              <a:pathLst>
                <a:path w="1554321" h="1167425">
                  <a:moveTo>
                    <a:pt x="70379" y="0"/>
                  </a:moveTo>
                  <a:lnTo>
                    <a:pt x="1483942" y="0"/>
                  </a:lnTo>
                  <a:cubicBezTo>
                    <a:pt x="1522811" y="0"/>
                    <a:pt x="1554321" y="31510"/>
                    <a:pt x="1554321" y="70379"/>
                  </a:cubicBezTo>
                  <a:lnTo>
                    <a:pt x="1554321" y="1097046"/>
                  </a:lnTo>
                  <a:cubicBezTo>
                    <a:pt x="1554321" y="1135915"/>
                    <a:pt x="1522811" y="1167425"/>
                    <a:pt x="1483942" y="1167425"/>
                  </a:cubicBezTo>
                  <a:lnTo>
                    <a:pt x="70379" y="1167425"/>
                  </a:lnTo>
                  <a:cubicBezTo>
                    <a:pt x="31510" y="1167425"/>
                    <a:pt x="0" y="1135915"/>
                    <a:pt x="0" y="1097046"/>
                  </a:cubicBezTo>
                  <a:lnTo>
                    <a:pt x="0" y="70379"/>
                  </a:lnTo>
                  <a:cubicBezTo>
                    <a:pt x="0" y="31510"/>
                    <a:pt x="31510" y="0"/>
                    <a:pt x="70379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554321" cy="120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04556" y="2235888"/>
            <a:ext cx="4615522" cy="2596198"/>
            <a:chOff x="0" y="0"/>
            <a:chExt cx="1128903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287760" cy="6348735"/>
            </a:xfrm>
            <a:custGeom>
              <a:avLst/>
              <a:gdLst/>
              <a:ahLst/>
              <a:cxnLst/>
              <a:rect l="l" t="t" r="r" b="b"/>
              <a:pathLst>
                <a:path w="11287760" h="6348735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-10969" r="-10969"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3010909" y="9219251"/>
            <a:ext cx="4840146" cy="955929"/>
          </a:xfrm>
          <a:custGeom>
            <a:avLst/>
            <a:gdLst/>
            <a:ahLst/>
            <a:cxnLst/>
            <a:rect l="l" t="t" r="r" b="b"/>
            <a:pathLst>
              <a:path w="4840146" h="955929">
                <a:moveTo>
                  <a:pt x="0" y="0"/>
                </a:moveTo>
                <a:lnTo>
                  <a:pt x="4840146" y="0"/>
                </a:lnTo>
                <a:lnTo>
                  <a:pt x="4840146" y="955928"/>
                </a:lnTo>
                <a:lnTo>
                  <a:pt x="0" y="955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2996952" y="6061861"/>
            <a:ext cx="4840146" cy="3953044"/>
            <a:chOff x="0" y="0"/>
            <a:chExt cx="1554321" cy="126944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54321" cy="1269445"/>
            </a:xfrm>
            <a:custGeom>
              <a:avLst/>
              <a:gdLst/>
              <a:ahLst/>
              <a:cxnLst/>
              <a:rect l="l" t="t" r="r" b="b"/>
              <a:pathLst>
                <a:path w="1554321" h="1269445">
                  <a:moveTo>
                    <a:pt x="70379" y="0"/>
                  </a:moveTo>
                  <a:lnTo>
                    <a:pt x="1483942" y="0"/>
                  </a:lnTo>
                  <a:cubicBezTo>
                    <a:pt x="1522811" y="0"/>
                    <a:pt x="1554321" y="31510"/>
                    <a:pt x="1554321" y="70379"/>
                  </a:cubicBezTo>
                  <a:lnTo>
                    <a:pt x="1554321" y="1199066"/>
                  </a:lnTo>
                  <a:cubicBezTo>
                    <a:pt x="1554321" y="1237935"/>
                    <a:pt x="1522811" y="1269445"/>
                    <a:pt x="1483942" y="1269445"/>
                  </a:cubicBezTo>
                  <a:lnTo>
                    <a:pt x="70379" y="1269445"/>
                  </a:lnTo>
                  <a:cubicBezTo>
                    <a:pt x="31510" y="1269445"/>
                    <a:pt x="0" y="1237935"/>
                    <a:pt x="0" y="1199066"/>
                  </a:cubicBezTo>
                  <a:lnTo>
                    <a:pt x="0" y="70379"/>
                  </a:lnTo>
                  <a:cubicBezTo>
                    <a:pt x="0" y="31510"/>
                    <a:pt x="31510" y="0"/>
                    <a:pt x="70379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554321" cy="1307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123221" y="6185566"/>
            <a:ext cx="4615522" cy="2596198"/>
            <a:chOff x="0" y="0"/>
            <a:chExt cx="11289030" cy="635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287760" cy="6348735"/>
            </a:xfrm>
            <a:custGeom>
              <a:avLst/>
              <a:gdLst/>
              <a:ahLst/>
              <a:cxnLst/>
              <a:rect l="l" t="t" r="r" b="b"/>
              <a:pathLst>
                <a:path w="11287760" h="6348735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5"/>
              <a:stretch>
                <a:fillRect t="-19402" b="-19402"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10345569" y="9219251"/>
            <a:ext cx="4840146" cy="955929"/>
          </a:xfrm>
          <a:custGeom>
            <a:avLst/>
            <a:gdLst/>
            <a:ahLst/>
            <a:cxnLst/>
            <a:rect l="l" t="t" r="r" b="b"/>
            <a:pathLst>
              <a:path w="4840146" h="955929">
                <a:moveTo>
                  <a:pt x="0" y="0"/>
                </a:moveTo>
                <a:lnTo>
                  <a:pt x="4840145" y="0"/>
                </a:lnTo>
                <a:lnTo>
                  <a:pt x="4840145" y="955928"/>
                </a:lnTo>
                <a:lnTo>
                  <a:pt x="0" y="955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9792244" y="6061861"/>
            <a:ext cx="4840146" cy="3635354"/>
            <a:chOff x="0" y="0"/>
            <a:chExt cx="1554321" cy="11674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54321" cy="1167425"/>
            </a:xfrm>
            <a:custGeom>
              <a:avLst/>
              <a:gdLst/>
              <a:ahLst/>
              <a:cxnLst/>
              <a:rect l="l" t="t" r="r" b="b"/>
              <a:pathLst>
                <a:path w="1554321" h="1167425">
                  <a:moveTo>
                    <a:pt x="70379" y="0"/>
                  </a:moveTo>
                  <a:lnTo>
                    <a:pt x="1483942" y="0"/>
                  </a:lnTo>
                  <a:cubicBezTo>
                    <a:pt x="1522811" y="0"/>
                    <a:pt x="1554321" y="31510"/>
                    <a:pt x="1554321" y="70379"/>
                  </a:cubicBezTo>
                  <a:lnTo>
                    <a:pt x="1554321" y="1097046"/>
                  </a:lnTo>
                  <a:cubicBezTo>
                    <a:pt x="1554321" y="1135915"/>
                    <a:pt x="1522811" y="1167425"/>
                    <a:pt x="1483942" y="1167425"/>
                  </a:cubicBezTo>
                  <a:lnTo>
                    <a:pt x="70379" y="1167425"/>
                  </a:lnTo>
                  <a:cubicBezTo>
                    <a:pt x="31510" y="1167425"/>
                    <a:pt x="0" y="1135915"/>
                    <a:pt x="0" y="1097046"/>
                  </a:cubicBezTo>
                  <a:lnTo>
                    <a:pt x="0" y="70379"/>
                  </a:lnTo>
                  <a:cubicBezTo>
                    <a:pt x="0" y="31510"/>
                    <a:pt x="31510" y="0"/>
                    <a:pt x="70379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554321" cy="120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918513" y="6185566"/>
            <a:ext cx="4615522" cy="2596198"/>
            <a:chOff x="0" y="0"/>
            <a:chExt cx="11289030" cy="635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287760" cy="6348735"/>
            </a:xfrm>
            <a:custGeom>
              <a:avLst/>
              <a:gdLst/>
              <a:ahLst/>
              <a:cxnLst/>
              <a:rect l="l" t="t" r="r" b="b"/>
              <a:pathLst>
                <a:path w="11287760" h="6348735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6"/>
              <a:stretch>
                <a:fillRect t="-12672" b="-12672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5417025" y="545887"/>
            <a:ext cx="7453950" cy="870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51"/>
              </a:lnSpc>
              <a:spcBef>
                <a:spcPct val="0"/>
              </a:spcBef>
            </a:pPr>
            <a:r>
              <a:rPr lang="en-US" sz="5108" b="1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แนวคิดทฤษฎีที่เกี่ยวข้อง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25006" y="4972075"/>
            <a:ext cx="2384037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การสรุปเนื้อหา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42468" y="4972075"/>
            <a:ext cx="5167611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การประมวลผลภาษาธรรมชาติ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91293" y="8915086"/>
            <a:ext cx="3851465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การแสดงผลข้อมูลผ่านแดชบอร์ด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67845" y="8960803"/>
            <a:ext cx="301941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เว็บแอปพลิเคชัน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160" y="6849670"/>
            <a:ext cx="3296071" cy="946825"/>
            <a:chOff x="0" y="0"/>
            <a:chExt cx="922973" cy="2651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65397" y="6849670"/>
            <a:ext cx="3296071" cy="946825"/>
            <a:chOff x="0" y="0"/>
            <a:chExt cx="922973" cy="2651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26532" y="6849670"/>
            <a:ext cx="3296071" cy="946825"/>
            <a:chOff x="0" y="0"/>
            <a:chExt cx="922973" cy="2651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079156" y="6849670"/>
            <a:ext cx="3296071" cy="946825"/>
            <a:chOff x="0" y="0"/>
            <a:chExt cx="922973" cy="2651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2973" cy="265132"/>
            </a:xfrm>
            <a:custGeom>
              <a:avLst/>
              <a:gdLst/>
              <a:ahLst/>
              <a:cxnLst/>
              <a:rect l="l" t="t" r="r" b="b"/>
              <a:pathLst>
                <a:path w="922973" h="265132">
                  <a:moveTo>
                    <a:pt x="0" y="0"/>
                  </a:moveTo>
                  <a:lnTo>
                    <a:pt x="922973" y="0"/>
                  </a:lnTo>
                  <a:lnTo>
                    <a:pt x="922973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22973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1766494" y="9340175"/>
            <a:ext cx="21820987" cy="946825"/>
            <a:chOff x="0" y="0"/>
            <a:chExt cx="6110362" cy="2651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110362" cy="265132"/>
            </a:xfrm>
            <a:custGeom>
              <a:avLst/>
              <a:gdLst/>
              <a:ahLst/>
              <a:cxnLst/>
              <a:rect l="l" t="t" r="r" b="b"/>
              <a:pathLst>
                <a:path w="6110362" h="26513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1766494" y="-816076"/>
            <a:ext cx="21820987" cy="1762900"/>
            <a:chOff x="0" y="0"/>
            <a:chExt cx="6110362" cy="49365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110362" cy="493651"/>
            </a:xfrm>
            <a:custGeom>
              <a:avLst/>
              <a:gdLst/>
              <a:ahLst/>
              <a:cxnLst/>
              <a:rect l="l" t="t" r="r" b="b"/>
              <a:pathLst>
                <a:path w="6110362" h="493651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4160" y="3685303"/>
            <a:ext cx="3296071" cy="3296071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0053844" y="7160143"/>
            <a:ext cx="2641447" cy="375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sz="2087" b="1" spc="39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Scholarcy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406467" y="7160143"/>
            <a:ext cx="2641447" cy="375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sz="2087" b="1" spc="39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ChatPDF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265397" y="3685303"/>
            <a:ext cx="3296071" cy="3296071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9726532" y="3732928"/>
            <a:ext cx="3296071" cy="3296071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4079156" y="3732928"/>
            <a:ext cx="3296071" cy="3296071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45238" r="-45238"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5506781" y="2267663"/>
            <a:ext cx="7274437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งานวิจัยที่เกี่ยวข้อง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7160143"/>
            <a:ext cx="2641447" cy="375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sz="2087" b="1" spc="39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NotebookLM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92709" y="7160143"/>
            <a:ext cx="2641447" cy="375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sz="2087" b="1" spc="39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Summarizer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23887" y="-2346523"/>
            <a:ext cx="4693046" cy="469304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048799" y="7911992"/>
            <a:ext cx="7019697" cy="10556306"/>
            <a:chOff x="0" y="0"/>
            <a:chExt cx="660400" cy="9931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993118"/>
            </a:xfrm>
            <a:custGeom>
              <a:avLst/>
              <a:gdLst/>
              <a:ahLst/>
              <a:cxnLst/>
              <a:rect l="l" t="t" r="r" b="b"/>
              <a:pathLst>
                <a:path w="660400" h="993118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507"/>
                  </a:cubicBezTo>
                  <a:lnTo>
                    <a:pt x="660400" y="993118"/>
                  </a:lnTo>
                  <a:lnTo>
                    <a:pt x="0" y="993118"/>
                  </a:lnTo>
                  <a:lnTo>
                    <a:pt x="0" y="33299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88900"/>
              <a:ext cx="660400" cy="9042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236191" y="1408580"/>
            <a:ext cx="9346145" cy="8394489"/>
          </a:xfrm>
          <a:custGeom>
            <a:avLst/>
            <a:gdLst/>
            <a:ahLst/>
            <a:cxnLst/>
            <a:rect l="l" t="t" r="r" b="b"/>
            <a:pathLst>
              <a:path w="9346145" h="8394489">
                <a:moveTo>
                  <a:pt x="0" y="0"/>
                </a:moveTo>
                <a:lnTo>
                  <a:pt x="9346145" y="0"/>
                </a:lnTo>
                <a:lnTo>
                  <a:pt x="9346145" y="8394489"/>
                </a:lnTo>
                <a:lnTo>
                  <a:pt x="0" y="83944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40" b="-3740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764859" y="395951"/>
            <a:ext cx="5350866" cy="768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051D40"/>
                </a:solidFill>
                <a:latin typeface="Montserrat"/>
                <a:ea typeface="Montserrat"/>
                <a:cs typeface="Montserrat"/>
                <a:sym typeface="Montserrat"/>
              </a:rPr>
              <a:t>Use case 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00679" y="7074186"/>
            <a:ext cx="5946973" cy="59469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61798" y="2302553"/>
            <a:ext cx="8359841" cy="5893688"/>
          </a:xfrm>
          <a:custGeom>
            <a:avLst/>
            <a:gdLst/>
            <a:ahLst/>
            <a:cxnLst/>
            <a:rect l="l" t="t" r="r" b="b"/>
            <a:pathLst>
              <a:path w="8359841" h="5893688">
                <a:moveTo>
                  <a:pt x="0" y="0"/>
                </a:moveTo>
                <a:lnTo>
                  <a:pt x="8359841" y="0"/>
                </a:lnTo>
                <a:lnTo>
                  <a:pt x="8359841" y="5893688"/>
                </a:lnTo>
                <a:lnTo>
                  <a:pt x="0" y="5893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360978" y="2302553"/>
            <a:ext cx="8313187" cy="5902363"/>
          </a:xfrm>
          <a:custGeom>
            <a:avLst/>
            <a:gdLst/>
            <a:ahLst/>
            <a:cxnLst/>
            <a:rect l="l" t="t" r="r" b="b"/>
            <a:pathLst>
              <a:path w="8313187" h="5902363">
                <a:moveTo>
                  <a:pt x="0" y="0"/>
                </a:moveTo>
                <a:lnTo>
                  <a:pt x="8313187" y="0"/>
                </a:lnTo>
                <a:lnTo>
                  <a:pt x="8313187" y="5902363"/>
                </a:lnTo>
                <a:lnTo>
                  <a:pt x="0" y="5902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404202" y="1010579"/>
            <a:ext cx="3913553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หน้าตาเว็บไซต์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00679" y="7074186"/>
            <a:ext cx="5946973" cy="59469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0091" y="2302553"/>
            <a:ext cx="8324793" cy="5900197"/>
          </a:xfrm>
          <a:custGeom>
            <a:avLst/>
            <a:gdLst/>
            <a:ahLst/>
            <a:cxnLst/>
            <a:rect l="l" t="t" r="r" b="b"/>
            <a:pathLst>
              <a:path w="8324793" h="5900197">
                <a:moveTo>
                  <a:pt x="0" y="0"/>
                </a:moveTo>
                <a:lnTo>
                  <a:pt x="8324793" y="0"/>
                </a:lnTo>
                <a:lnTo>
                  <a:pt x="8324793" y="5900197"/>
                </a:lnTo>
                <a:lnTo>
                  <a:pt x="0" y="5900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310615" y="2411141"/>
            <a:ext cx="8108258" cy="5683020"/>
          </a:xfrm>
          <a:custGeom>
            <a:avLst/>
            <a:gdLst/>
            <a:ahLst/>
            <a:cxnLst/>
            <a:rect l="l" t="t" r="r" b="b"/>
            <a:pathLst>
              <a:path w="8108258" h="5683020">
                <a:moveTo>
                  <a:pt x="0" y="0"/>
                </a:moveTo>
                <a:lnTo>
                  <a:pt x="8108258" y="0"/>
                </a:lnTo>
                <a:lnTo>
                  <a:pt x="8108258" y="5683020"/>
                </a:lnTo>
                <a:lnTo>
                  <a:pt x="0" y="5683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353839" y="1010579"/>
            <a:ext cx="3913553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หน้าตาเว็บไซต์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00679" y="7074186"/>
            <a:ext cx="5946973" cy="59469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88628" y="2306886"/>
            <a:ext cx="8336437" cy="5898029"/>
          </a:xfrm>
          <a:custGeom>
            <a:avLst/>
            <a:gdLst/>
            <a:ahLst/>
            <a:cxnLst/>
            <a:rect l="l" t="t" r="r" b="b"/>
            <a:pathLst>
              <a:path w="8336437" h="5898029">
                <a:moveTo>
                  <a:pt x="0" y="0"/>
                </a:moveTo>
                <a:lnTo>
                  <a:pt x="8336437" y="0"/>
                </a:lnTo>
                <a:lnTo>
                  <a:pt x="8336437" y="5898030"/>
                </a:lnTo>
                <a:lnTo>
                  <a:pt x="0" y="5898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418440" y="2306886"/>
            <a:ext cx="8255726" cy="5913164"/>
          </a:xfrm>
          <a:custGeom>
            <a:avLst/>
            <a:gdLst/>
            <a:ahLst/>
            <a:cxnLst/>
            <a:rect l="l" t="t" r="r" b="b"/>
            <a:pathLst>
              <a:path w="8255726" h="5913164">
                <a:moveTo>
                  <a:pt x="0" y="0"/>
                </a:moveTo>
                <a:lnTo>
                  <a:pt x="8255725" y="0"/>
                </a:lnTo>
                <a:lnTo>
                  <a:pt x="8255725" y="5913164"/>
                </a:lnTo>
                <a:lnTo>
                  <a:pt x="0" y="5913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187223" y="1010579"/>
            <a:ext cx="3913553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หน้าตาเว็บไซต์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00679" y="7074186"/>
            <a:ext cx="5946973" cy="59469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41432" y="2302553"/>
            <a:ext cx="8419035" cy="5882801"/>
          </a:xfrm>
          <a:custGeom>
            <a:avLst/>
            <a:gdLst/>
            <a:ahLst/>
            <a:cxnLst/>
            <a:rect l="l" t="t" r="r" b="b"/>
            <a:pathLst>
              <a:path w="8419035" h="5882801">
                <a:moveTo>
                  <a:pt x="0" y="0"/>
                </a:moveTo>
                <a:lnTo>
                  <a:pt x="8419036" y="0"/>
                </a:lnTo>
                <a:lnTo>
                  <a:pt x="8419036" y="5882801"/>
                </a:lnTo>
                <a:lnTo>
                  <a:pt x="0" y="5882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44000" y="2302553"/>
            <a:ext cx="8301619" cy="5904527"/>
          </a:xfrm>
          <a:custGeom>
            <a:avLst/>
            <a:gdLst/>
            <a:ahLst/>
            <a:cxnLst/>
            <a:rect l="l" t="t" r="r" b="b"/>
            <a:pathLst>
              <a:path w="8301619" h="5904527">
                <a:moveTo>
                  <a:pt x="0" y="0"/>
                </a:moveTo>
                <a:lnTo>
                  <a:pt x="8301619" y="0"/>
                </a:lnTo>
                <a:lnTo>
                  <a:pt x="8301619" y="5904527"/>
                </a:lnTo>
                <a:lnTo>
                  <a:pt x="0" y="5904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187223" y="942975"/>
            <a:ext cx="3913553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หน้าตาเว็บไซต์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00679" y="7074186"/>
            <a:ext cx="5946973" cy="59469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36883" y="2326454"/>
            <a:ext cx="8407117" cy="5884982"/>
          </a:xfrm>
          <a:custGeom>
            <a:avLst/>
            <a:gdLst/>
            <a:ahLst/>
            <a:cxnLst/>
            <a:rect l="l" t="t" r="r" b="b"/>
            <a:pathLst>
              <a:path w="8407117" h="5884982">
                <a:moveTo>
                  <a:pt x="0" y="0"/>
                </a:moveTo>
                <a:lnTo>
                  <a:pt x="8407117" y="0"/>
                </a:lnTo>
                <a:lnTo>
                  <a:pt x="8407117" y="5884982"/>
                </a:lnTo>
                <a:lnTo>
                  <a:pt x="0" y="5884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318690" y="2326454"/>
            <a:ext cx="8355476" cy="5787148"/>
          </a:xfrm>
          <a:custGeom>
            <a:avLst/>
            <a:gdLst/>
            <a:ahLst/>
            <a:cxnLst/>
            <a:rect l="l" t="t" r="r" b="b"/>
            <a:pathLst>
              <a:path w="8355476" h="5787148">
                <a:moveTo>
                  <a:pt x="0" y="0"/>
                </a:moveTo>
                <a:lnTo>
                  <a:pt x="8355475" y="0"/>
                </a:lnTo>
                <a:lnTo>
                  <a:pt x="8355475" y="5787149"/>
                </a:lnTo>
                <a:lnTo>
                  <a:pt x="0" y="5787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361913" y="1104351"/>
            <a:ext cx="3913553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หน้าตาเว็บไซต์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00679" y="7074186"/>
            <a:ext cx="5946973" cy="59469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9397" y="2328566"/>
            <a:ext cx="8336437" cy="5898029"/>
          </a:xfrm>
          <a:custGeom>
            <a:avLst/>
            <a:gdLst/>
            <a:ahLst/>
            <a:cxnLst/>
            <a:rect l="l" t="t" r="r" b="b"/>
            <a:pathLst>
              <a:path w="8336437" h="5898029">
                <a:moveTo>
                  <a:pt x="0" y="0"/>
                </a:moveTo>
                <a:lnTo>
                  <a:pt x="8336437" y="0"/>
                </a:lnTo>
                <a:lnTo>
                  <a:pt x="8336437" y="5898030"/>
                </a:lnTo>
                <a:lnTo>
                  <a:pt x="0" y="5898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337728" y="2328566"/>
            <a:ext cx="8336437" cy="5898029"/>
          </a:xfrm>
          <a:custGeom>
            <a:avLst/>
            <a:gdLst/>
            <a:ahLst/>
            <a:cxnLst/>
            <a:rect l="l" t="t" r="r" b="b"/>
            <a:pathLst>
              <a:path w="8336437" h="5898029">
                <a:moveTo>
                  <a:pt x="0" y="0"/>
                </a:moveTo>
                <a:lnTo>
                  <a:pt x="8336437" y="0"/>
                </a:lnTo>
                <a:lnTo>
                  <a:pt x="8336437" y="5898030"/>
                </a:lnTo>
                <a:lnTo>
                  <a:pt x="0" y="58980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187223" y="1010579"/>
            <a:ext cx="3913553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หน้าตาเว็บไซต์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00679" y="7074186"/>
            <a:ext cx="5946973" cy="59469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32827" y="2319910"/>
            <a:ext cx="8290090" cy="5906689"/>
          </a:xfrm>
          <a:custGeom>
            <a:avLst/>
            <a:gdLst/>
            <a:ahLst/>
            <a:cxnLst/>
            <a:rect l="l" t="t" r="r" b="b"/>
            <a:pathLst>
              <a:path w="8290090" h="5906689">
                <a:moveTo>
                  <a:pt x="0" y="0"/>
                </a:moveTo>
                <a:lnTo>
                  <a:pt x="8290089" y="0"/>
                </a:lnTo>
                <a:lnTo>
                  <a:pt x="8290089" y="5906689"/>
                </a:lnTo>
                <a:lnTo>
                  <a:pt x="0" y="5906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337728" y="2328570"/>
            <a:ext cx="8336437" cy="5898029"/>
          </a:xfrm>
          <a:custGeom>
            <a:avLst/>
            <a:gdLst/>
            <a:ahLst/>
            <a:cxnLst/>
            <a:rect l="l" t="t" r="r" b="b"/>
            <a:pathLst>
              <a:path w="8336437" h="5898029">
                <a:moveTo>
                  <a:pt x="0" y="0"/>
                </a:moveTo>
                <a:lnTo>
                  <a:pt x="8336437" y="0"/>
                </a:lnTo>
                <a:lnTo>
                  <a:pt x="8336437" y="5898029"/>
                </a:lnTo>
                <a:lnTo>
                  <a:pt x="0" y="5898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187223" y="1134607"/>
            <a:ext cx="3913553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หน้าตาเว็บไซต์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5820" y="-1782102"/>
            <a:ext cx="3564204" cy="356420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00679" y="7074186"/>
            <a:ext cx="5946973" cy="59469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05691" y="2435837"/>
            <a:ext cx="14979190" cy="3257974"/>
          </a:xfrm>
          <a:custGeom>
            <a:avLst/>
            <a:gdLst/>
            <a:ahLst/>
            <a:cxnLst/>
            <a:rect l="l" t="t" r="r" b="b"/>
            <a:pathLst>
              <a:path w="14979190" h="3257974">
                <a:moveTo>
                  <a:pt x="0" y="0"/>
                </a:moveTo>
                <a:lnTo>
                  <a:pt x="14979190" y="0"/>
                </a:lnTo>
                <a:lnTo>
                  <a:pt x="14979190" y="3257974"/>
                </a:lnTo>
                <a:lnTo>
                  <a:pt x="0" y="32579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05691" y="6347545"/>
            <a:ext cx="14979190" cy="2118918"/>
          </a:xfrm>
          <a:custGeom>
            <a:avLst/>
            <a:gdLst/>
            <a:ahLst/>
            <a:cxnLst/>
            <a:rect l="l" t="t" r="r" b="b"/>
            <a:pathLst>
              <a:path w="14979190" h="2118918">
                <a:moveTo>
                  <a:pt x="0" y="0"/>
                </a:moveTo>
                <a:lnTo>
                  <a:pt x="14979190" y="0"/>
                </a:lnTo>
                <a:lnTo>
                  <a:pt x="14979190" y="2118919"/>
                </a:lnTo>
                <a:lnTo>
                  <a:pt x="0" y="2118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95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041670" y="1114432"/>
            <a:ext cx="5335596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ทดลองเชื่อมต่อ API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8990215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2832861" y="810330"/>
            <a:ext cx="8541900" cy="8666340"/>
          </a:xfrm>
          <a:custGeom>
            <a:avLst/>
            <a:gdLst/>
            <a:ahLst/>
            <a:cxnLst/>
            <a:rect l="l" t="t" r="r" b="b"/>
            <a:pathLst>
              <a:path w="8541900" h="866634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061529" y="2937389"/>
            <a:ext cx="12164941" cy="4412223"/>
            <a:chOff x="0" y="0"/>
            <a:chExt cx="3203935" cy="11620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03935" cy="1162067"/>
            </a:xfrm>
            <a:custGeom>
              <a:avLst/>
              <a:gdLst/>
              <a:ahLst/>
              <a:cxnLst/>
              <a:rect l="l" t="t" r="r" b="b"/>
              <a:pathLst>
                <a:path w="3203935" h="1162067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332775" y="3958037"/>
            <a:ext cx="11622449" cy="461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60"/>
              </a:lnSpc>
            </a:pPr>
            <a:r>
              <a:rPr lang="en-US" sz="1325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สรุป</a:t>
            </a:r>
          </a:p>
          <a:p>
            <a:pPr marL="0" lvl="0" indent="0" algn="ctr">
              <a:lnSpc>
                <a:spcPts val="18560"/>
              </a:lnSpc>
              <a:spcBef>
                <a:spcPct val="0"/>
              </a:spcBef>
            </a:pPr>
            <a:endParaRPr lang="en-US" sz="13257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50059" y="3589119"/>
            <a:ext cx="12187882" cy="245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052"/>
              </a:lnSpc>
              <a:spcBef>
                <a:spcPct val="0"/>
              </a:spcBef>
            </a:pPr>
            <a:r>
              <a:rPr lang="en-US" sz="14323" b="1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  <p:sp>
        <p:nvSpPr>
          <p:cNvPr id="3" name="Freeform 3"/>
          <p:cNvSpPr/>
          <p:nvPr/>
        </p:nvSpPr>
        <p:spPr>
          <a:xfrm>
            <a:off x="-4925441" y="3609788"/>
            <a:ext cx="9392643" cy="9529477"/>
          </a:xfrm>
          <a:custGeom>
            <a:avLst/>
            <a:gdLst/>
            <a:ahLst/>
            <a:cxnLst/>
            <a:rect l="l" t="t" r="r" b="b"/>
            <a:pathLst>
              <a:path w="9392643" h="9529477">
                <a:moveTo>
                  <a:pt x="0" y="0"/>
                </a:moveTo>
                <a:lnTo>
                  <a:pt x="9392643" y="0"/>
                </a:lnTo>
                <a:lnTo>
                  <a:pt x="9392643" y="9529476"/>
                </a:lnTo>
                <a:lnTo>
                  <a:pt x="0" y="95294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241341">
            <a:off x="12185576" y="-4047283"/>
            <a:ext cx="9392643" cy="9529477"/>
          </a:xfrm>
          <a:custGeom>
            <a:avLst/>
            <a:gdLst/>
            <a:ahLst/>
            <a:cxnLst/>
            <a:rect l="l" t="t" r="r" b="b"/>
            <a:pathLst>
              <a:path w="9392643" h="9529477">
                <a:moveTo>
                  <a:pt x="0" y="0"/>
                </a:moveTo>
                <a:lnTo>
                  <a:pt x="9392643" y="0"/>
                </a:lnTo>
                <a:lnTo>
                  <a:pt x="9392643" y="9529477"/>
                </a:lnTo>
                <a:lnTo>
                  <a:pt x="0" y="95294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Microsoft Office PowerPoint</Application>
  <PresentationFormat>Custom</PresentationFormat>
  <Paragraphs>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Poppins Bold</vt:lpstr>
      <vt:lpstr>Arial</vt:lpstr>
      <vt:lpstr>Montserrat</vt:lpstr>
      <vt:lpstr>Montserrat Bold</vt:lpstr>
      <vt:lpstr>HK Grotesk Bold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303</dc:title>
  <cp:lastModifiedBy>user</cp:lastModifiedBy>
  <cp:revision>2</cp:revision>
  <dcterms:created xsi:type="dcterms:W3CDTF">2006-08-16T00:00:00Z</dcterms:created>
  <dcterms:modified xsi:type="dcterms:W3CDTF">2026-05-17T20:18:58Z</dcterms:modified>
  <dc:identifier>DAHJpewcBbY</dc:identifier>
</cp:coreProperties>
</file>